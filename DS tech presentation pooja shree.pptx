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1" r:id="rId5"/>
    <p:sldId id="27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course. Say that the presentation answers four questions, each with a different data structure: Array, Graph, Stack and Hash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1000 students' marks. A single int holds one mark, so we need a non-primitive structure to hold many marks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table. Array access is O(1) because the address is computed from the index. A linked list must walk node by node, so student #750 takes 750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short code. Direct indexing gives O(1) access and update; one loop gives the average in O(n). The only weakness, inserting in the middle, is rare for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Cities are vertices, roads are weighted edges. Roads form cycles and many-to-many links, which arrays, lists and trees cannot represent.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 maps are sparse, so an adjacency list uses O(V+E) memory instead of O(V squared). Dijkstra with a min-heap finds shortest paths in O((V+E) log 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distances from A: C=2, B=3 (via C), D=8 (via B), E=10 (via D). The direct-looking C to E road would cost 12, so the longer-looking detour is actually shorter.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ADT defines behaviour, not implementation. The stack ADT gives push, pop, peek and isEmpty, all O(1). The latest visited page sits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A, B, C: three pushes. First Back pops C and shows B. Second Back pops B and shows A. Each step touches only the top, so it is O(1). Popped pages go to a second stack for the Forward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stack with an array that inserts at the front and with a queue. The stack gives O(1) visit and back, and its LIFO order matches the Back button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ISBN is a unique key and we only need exact-match lookup. Compare four candidates; the hash table jumps straight to the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search may check all 50,000 records. Binary search and a balanced BST need about log2(50,000) which is 16 comparisons. A hash table needs about 1 to 2. The hash worst case O(n) needs every key to collide.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ISBN goes through the hash function to a bucket index; collisions are handled by chaining. With m=65,537 and 50,000 records the load factor is about 0.76, so a search takes about 1.4 comparisons. Then summarise all four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AV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097280" y="2103120"/>
            <a:ext cx="9966960" cy="16002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658368" cy="781812"/>
          </a:xfrm>
          <a:prstGeom prst="rect">
            <a:avLst/>
          </a:prstGeom>
        </p:spPr>
      </p:pic>
      <p:pic>
        <p:nvPicPr>
          <p:cNvPr id="3" name="Image 1" descr="/home/claude/assets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88" y="228600"/>
            <a:ext cx="877824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CSA03 · Data Structures · Technical Presentation</a:t>
            </a:r>
            <a:endParaRPr lang="en-US" sz="1100" dirty="0"/>
          </a:p>
        </p:txBody>
      </p:sp>
      <p:sp>
        <p:nvSpPr>
          <p:cNvPr id="5" name="Text 1"/>
          <p:cNvSpPr/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assets/ban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530352"/>
            <a:ext cx="7863840" cy="1206094"/>
          </a:xfrm>
          <a:prstGeom prst="rect">
            <a:avLst/>
          </a:prstGeom>
        </p:spPr>
      </p:pic>
      <p:sp>
        <p:nvSpPr>
          <p:cNvPr id="4" name="Text 0"/>
          <p:cNvSpPr/>
          <p:nvPr>
            <p:ph type="title" idx="100" hasCustomPrompt="1"/>
          </p:nvPr>
        </p:nvSpPr>
        <p:spPr>
          <a:xfrm>
            <a:off x="1097280" y="2240280"/>
            <a:ext cx="99669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>
                <a:solidFill>
                  <a:srgbClr val="FF0000"/>
                </a:solidFill>
                <a:sym typeface="+mn-ea"/>
              </a:rPr>
              <a:t>CSA0308- DATA STRUCTURES</a:t>
            </a:r>
            <a:br>
              <a:rPr>
                <a:solidFill>
                  <a:srgbClr val="FF0000"/>
                </a:solidFill>
                <a:sym typeface="+mn-ea"/>
              </a:rPr>
            </a:br>
            <a:r>
              <a:rPr>
                <a:solidFill>
                  <a:srgbClr val="FF0000"/>
                </a:solidFill>
                <a:sym typeface="+mn-ea"/>
              </a:rPr>
              <a:t>Assessment Tool 2 - Technical Presentation</a:t>
            </a:r>
            <a:endParaRPr lang="en-US" sz="400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097280" y="3794760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744345" y="4857750"/>
            <a:ext cx="2153285" cy="1492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</a:rPr>
              <a:t>Guided by :</a:t>
            </a:r>
            <a:endParaRPr lang="en-US" sz="2000" b="1" dirty="0">
              <a:solidFill>
                <a:schemeClr val="accent5"/>
              </a:solidFill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</a:rPr>
              <a:t>Dr.Rajaram</a:t>
            </a:r>
            <a:endParaRPr lang="en-US" sz="2000" b="1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79335" y="5084445"/>
            <a:ext cx="2954020" cy="721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Presented by: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 algn="l"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Pooja Shree K N (192572129)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5850" y="158750"/>
            <a:ext cx="4757420" cy="59461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 idx="103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9130" y="860425"/>
            <a:ext cx="6159500" cy="5835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50292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Primitive vs Non-Primitive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1 · Student marks management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1097280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263142"/>
                </a:solidFill>
                <a:latin typeface="Aptos"/>
              </a:defRPr>
            </a:pPr>
            <a:r>
              <a:t>Goal: manage 1,000 student marks without creating 1,000 separate variables.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82296" cy="1828800"/>
          </a:xfrm>
          <a:prstGeom prst="rect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167128"/>
            <a:ext cx="491032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PRIMITIVE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32888"/>
            <a:ext cx="4892040" cy="12618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263142"/>
                </a:solidFill>
                <a:latin typeface="Aptos"/>
              </a:defRPr>
            </a:pPr>
            <a:r>
              <a:t>Stores one simple value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263142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263142"/>
                </a:solidFill>
                <a:latin typeface="Aptos"/>
              </a:defRPr>
            </a:pPr>
            <a:r>
              <a:t>int  •  float  •  char  •  boolean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057400"/>
            <a:ext cx="82296" cy="1828800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2167128"/>
            <a:ext cx="491032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NON-PRIMITIVE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532888"/>
            <a:ext cx="4892040" cy="12618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263142"/>
                </a:solidFill>
                <a:latin typeface="Aptos"/>
              </a:defRPr>
            </a:pPr>
            <a:r>
              <a:t>Combines values or relationships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263142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600" b="0">
                <a:solidFill>
                  <a:srgbClr val="263142"/>
                </a:solidFill>
                <a:latin typeface="Aptos"/>
              </a:defRPr>
            </a:pPr>
            <a:r>
              <a:t>Array  •  Linked list  •  Stack  •  Queue  •  Tree  • 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60"/>
            <a:ext cx="10881360" cy="132588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617720"/>
            <a:ext cx="502920" cy="502920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462272"/>
            <a:ext cx="9326880" cy="7315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4233E"/>
                </a:solidFill>
                <a:latin typeface="Aptos"/>
              </a:defRPr>
            </a:pPr>
            <a:r>
              <a:t>Best fit: an array stores all marks together and lets each mark be reached by index.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806440"/>
            <a:ext cx="1828800" cy="347472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E1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5815583"/>
            <a:ext cx="1755648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2D68BE"/>
                </a:solidFill>
                <a:latin typeface="Aptos"/>
              </a:defRPr>
            </a:pPr>
            <a:r>
              <a:t>ONE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5806440"/>
            <a:ext cx="2286000" cy="347472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62656" y="5815583"/>
            <a:ext cx="2212848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GROUP OF VALUES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5806440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E1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5815583"/>
            <a:ext cx="2304288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2D68BE"/>
                </a:solidFill>
                <a:latin typeface="Aptos"/>
              </a:defRPr>
            </a:pPr>
            <a:r>
              <a:t>LINEAR STRUCTURES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5806440"/>
            <a:ext cx="2286000" cy="347472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5" y="5815583"/>
            <a:ext cx="2212848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9B6914"/>
                </a:solidFill>
                <a:latin typeface="Aptos"/>
              </a:defRPr>
            </a:pPr>
            <a:r>
              <a:t>NON-LINEAR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50292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Why an Array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1 · Efficiency of the data 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10972800" cy="3840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63142"/>
                </a:solidFill>
                <a:latin typeface="Aptos"/>
              </a:defRPr>
            </a:pPr>
            <a:r>
              <a:t>Array access is fast because elements occupy consecutive memory locations.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82880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606F83"/>
                </a:solidFill>
                <a:latin typeface="Aptos"/>
              </a:defRPr>
            </a:pPr>
            <a:r>
              <a:t>Memory 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828800"/>
            <a:ext cx="9601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901952"/>
            <a:ext cx="960120" cy="43891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2D68BE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28800"/>
            <a:ext cx="9601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01952"/>
            <a:ext cx="960120" cy="43891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2D68BE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828800"/>
            <a:ext cx="9601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01952"/>
            <a:ext cx="960120" cy="43891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2D68BE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828800"/>
            <a:ext cx="9601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1901952"/>
            <a:ext cx="960120" cy="43891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2D68BE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828800"/>
            <a:ext cx="960120" cy="621792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901952"/>
            <a:ext cx="960120" cy="43891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2D68BE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828800"/>
            <a:ext cx="9601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901952"/>
            <a:ext cx="960120" cy="43891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2D68BE"/>
                </a:solidFill>
                <a:latin typeface="Aptos"/>
              </a:defRPr>
            </a:pPr>
            <a: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514600"/>
            <a:ext cx="96012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606F83"/>
                </a:solidFill>
                <a:latin typeface="Aptos"/>
              </a:defRPr>
            </a:pPr>
            <a:r>
              <a:t>marks[0]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514600"/>
            <a:ext cx="96012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606F83"/>
                </a:solidFill>
                <a:latin typeface="Aptos"/>
              </a:defRPr>
            </a:pPr>
            <a:r>
              <a:t>marks[4]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154680"/>
            <a:ext cx="34290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154680"/>
            <a:ext cx="82296" cy="1554480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264408"/>
            <a:ext cx="308152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DIRECT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630168"/>
            <a:ext cx="3063240" cy="98755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263142"/>
                </a:solidFill>
                <a:latin typeface="Aptos"/>
              </a:defRPr>
            </a:pPr>
            <a:r>
              <a:t>Access/update by index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263142"/>
                </a:solidFill>
                <a:latin typeface="Aptos"/>
              </a:defRPr>
            </a:pPr>
            <a:r>
              <a:t>Typical time: O(1)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154680"/>
            <a:ext cx="34290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3154680"/>
            <a:ext cx="82296" cy="1554480"/>
          </a:xfrm>
          <a:prstGeom prst="rect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264408"/>
            <a:ext cx="308152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CONTIGUOUS 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3630168"/>
            <a:ext cx="3063240" cy="98755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263142"/>
                </a:solidFill>
                <a:latin typeface="Aptos"/>
              </a:defRPr>
            </a:pPr>
            <a:r>
              <a:t>No pointer stored per mark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263142"/>
                </a:solidFill>
                <a:latin typeface="Aptos"/>
              </a:defRPr>
            </a:pPr>
            <a:r>
              <a:t>Compact memory layout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154680"/>
            <a:ext cx="34290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154680"/>
            <a:ext cx="82296" cy="1554480"/>
          </a:xfrm>
          <a:prstGeom prst="rect">
            <a:avLst/>
          </a:prstGeom>
          <a:solidFill>
            <a:srgbClr val="F0B046"/>
          </a:solidFill>
          <a:ln>
            <a:solidFill>
              <a:srgbClr val="F0B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3264408"/>
            <a:ext cx="308152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KNOWN 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3630168"/>
            <a:ext cx="3063240" cy="98755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263142"/>
                </a:solidFill>
                <a:latin typeface="Aptos"/>
              </a:defRPr>
            </a:pPr>
            <a:r>
              <a:t>Exactly 1,000 entries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263142"/>
                </a:solidFill>
                <a:latin typeface="Aptos"/>
              </a:defRPr>
            </a:pPr>
            <a:r>
              <a:t>No resizing required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74920"/>
            <a:ext cx="10835640" cy="868680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230368"/>
            <a:ext cx="10332720" cy="53035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63142"/>
                </a:solidFill>
                <a:latin typeface="Aptos"/>
              </a:defRPr>
            </a:pPr>
            <a:r>
              <a:t>Trade-off: inserting or deleting in the middle may shift many values — O(n).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26480"/>
            <a:ext cx="10698480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E9B97"/>
                </a:solidFill>
                <a:latin typeface="Aptos"/>
              </a:defRPr>
            </a:pPr>
            <a:r>
              <a:t>Complexity: access O(1)   •   traversal O(n)   •   storage O(n)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7100" y="210185"/>
            <a:ext cx="10731500" cy="46736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Implementation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1 · Array of 1000 marks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623560" cy="4526280"/>
          </a:xfrm>
          <a:prstGeom prst="roundRect">
            <a:avLst>
              <a:gd name="adj" fmla="val 12000"/>
            </a:avLst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02920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8FDBD7"/>
                </a:solidFill>
                <a:latin typeface="Aptos"/>
              </a:defRPr>
            </a:pPr>
            <a:r>
              <a:t>C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029200" cy="34747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 panose="020B0609020204030204"/>
              </a:defRPr>
            </a:pPr>
            <a:r>
              <a:t>int marks[1000];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 panose="020B0609020204030204"/>
              </a:defRPr>
            </a:pPr>
            <a:r>
              <a:t>marks[749] = 88;       // update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 panose="020B0609020204030204"/>
              </a:defRPr>
            </a:pPr>
            <a:r>
              <a:t>int m = marks[749];    // access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 panose="020B0609020204030204"/>
              </a:defRPr>
            </a:pPr>
            <a:r>
              <a:t>int sum = 0;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 panose="020B0609020204030204"/>
              </a:defRPr>
            </a:pPr>
            <a:r>
              <a:t>for (int i = 0; i &lt; 1000; i++)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 panose="020B0609020204030204"/>
              </a:defRPr>
            </a:pPr>
            <a:r>
              <a:t>    sum += marks[i];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FFFFFF"/>
                </a:solidFill>
                <a:latin typeface="Consolas" panose="020B0609020204030204"/>
              </a:defRPr>
            </a:pPr>
            <a:r>
              <a:t>float avg = sum / 1000.0;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63040"/>
            <a:ext cx="466344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4233E"/>
                </a:solidFill>
                <a:latin typeface="Aptos"/>
              </a:defRPr>
            </a:pPr>
            <a:r>
              <a:t>Why this works well</a:t>
            </a:r>
          </a:p>
        </p:txBody>
      </p:sp>
      <p:sp>
        <p:nvSpPr>
          <p:cNvPr id="11" name="Oval 10"/>
          <p:cNvSpPr/>
          <p:nvPr/>
        </p:nvSpPr>
        <p:spPr>
          <a:xfrm>
            <a:off x="6720840" y="1965960"/>
            <a:ext cx="438912" cy="438912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56816"/>
            <a:ext cx="3931920" cy="29260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Fixed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2276856"/>
            <a:ext cx="402336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Aptos"/>
              </a:defRPr>
            </a:pPr>
            <a:r>
              <a:t>1000 students are known in advance.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2907791"/>
            <a:ext cx="438912" cy="438912"/>
          </a:xfrm>
          <a:prstGeom prst="ellipse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898648"/>
            <a:ext cx="3931920" cy="29260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Index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3218687"/>
            <a:ext cx="402336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Aptos"/>
              </a:defRPr>
            </a:pPr>
            <a:r>
              <a:t>The student position identifies the element.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3849624"/>
            <a:ext cx="438912" cy="438912"/>
          </a:xfrm>
          <a:prstGeom prst="ellipse">
            <a:avLst/>
          </a:prstGeom>
          <a:solidFill>
            <a:srgbClr val="F0B046"/>
          </a:solidFill>
          <a:ln>
            <a:solidFill>
              <a:srgbClr val="F0B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3840480"/>
            <a:ext cx="3931920" cy="29260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Low overhead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4160520"/>
            <a:ext cx="402336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Aptos"/>
              </a:defRPr>
            </a:pPr>
            <a:r>
              <a:t>No link pointers are needed.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4791456"/>
            <a:ext cx="438912" cy="438912"/>
          </a:xfrm>
          <a:prstGeom prst="ellipse">
            <a:avLst/>
          </a:prstGeom>
          <a:solidFill>
            <a:srgbClr val="CA5252"/>
          </a:solidFill>
          <a:ln>
            <a:solidFill>
              <a:srgbClr val="CA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4782312"/>
            <a:ext cx="3931920" cy="29260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Simple traversal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5102352"/>
            <a:ext cx="402336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Aptos"/>
              </a:defRPr>
            </a:pPr>
            <a:r>
              <a:t>Visit every mark once to calculate average.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5897880"/>
            <a:ext cx="4297680" cy="347472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8856" y="5907024"/>
            <a:ext cx="4224528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ACCESS O(1)  •  TRAVERSE O(n)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12925" y="210185"/>
            <a:ext cx="9845675" cy="33909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Graph for City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2 · Non-linear data 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502920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63142"/>
                </a:solidFill>
                <a:latin typeface="Aptos"/>
              </a:defRPr>
            </a:pPr>
            <a:r>
              <a:t>Represent each city as a vertex and each road as an edge.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49377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82296" cy="960120"/>
          </a:xfrm>
          <a:prstGeom prst="rect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459028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VERTEX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41448"/>
            <a:ext cx="4572000" cy="39319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A city or 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49377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82296" cy="960120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264408"/>
            <a:ext cx="459028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WEIGHTED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630168"/>
            <a:ext cx="4572000" cy="39319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Distance or travel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49377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343400"/>
            <a:ext cx="82296" cy="1143000"/>
          </a:xfrm>
          <a:prstGeom prst="rect">
            <a:avLst/>
          </a:prstGeom>
          <a:solidFill>
            <a:srgbClr val="F0B046"/>
          </a:solidFill>
          <a:ln>
            <a:solidFill>
              <a:srgbClr val="F0B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453128"/>
            <a:ext cx="459028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WHY A GRAPH?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818888"/>
            <a:ext cx="4572000" cy="5760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Cities connect in many directions; routes can contain cycles.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417320"/>
            <a:ext cx="512064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Example road network (distance in km)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839712" y="2542032"/>
            <a:ext cx="1645920" cy="914400"/>
          </a:xfrm>
          <a:prstGeom prst="line">
            <a:avLst/>
          </a:prstGeom>
          <a:ln w="19050">
            <a:solidFill>
              <a:srgbClr val="99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43800" y="2788920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1E9B97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39712" y="3456432"/>
            <a:ext cx="1645920" cy="1188720"/>
          </a:xfrm>
          <a:prstGeom prst="line">
            <a:avLst/>
          </a:prstGeom>
          <a:ln w="19050">
            <a:solidFill>
              <a:srgbClr val="99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43800" y="3840480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1E9B97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85632" y="2542032"/>
            <a:ext cx="0" cy="2103120"/>
          </a:xfrm>
          <a:prstGeom prst="line">
            <a:avLst/>
          </a:prstGeom>
          <a:ln w="19050">
            <a:solidFill>
              <a:srgbClr val="99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66760" y="3383279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1E9B97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85632" y="2542032"/>
            <a:ext cx="1920240" cy="0"/>
          </a:xfrm>
          <a:prstGeom prst="line">
            <a:avLst/>
          </a:prstGeom>
          <a:ln w="19050">
            <a:solidFill>
              <a:srgbClr val="99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326880" y="2331720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1E9B97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8485632" y="2542032"/>
            <a:ext cx="1920240" cy="2103120"/>
          </a:xfrm>
          <a:prstGeom prst="line">
            <a:avLst/>
          </a:prstGeom>
          <a:ln w="19050">
            <a:solidFill>
              <a:srgbClr val="99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26880" y="3383279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1E9B97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85632" y="4645152"/>
            <a:ext cx="1920240" cy="0"/>
          </a:xfrm>
          <a:prstGeom prst="line">
            <a:avLst/>
          </a:prstGeom>
          <a:ln w="19050">
            <a:solidFill>
              <a:srgbClr val="99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326880" y="4434840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1E9B97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05872" y="2542032"/>
            <a:ext cx="0" cy="2103120"/>
          </a:xfrm>
          <a:prstGeom prst="line">
            <a:avLst/>
          </a:prstGeom>
          <a:ln w="19050">
            <a:solidFill>
              <a:srgbClr val="99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287000" y="3383279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1E9B9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0" y="3200400"/>
            <a:ext cx="530352" cy="530352"/>
          </a:xfrm>
          <a:prstGeom prst="ellipse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0" y="2286000"/>
            <a:ext cx="530352" cy="530352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0" y="4389120"/>
            <a:ext cx="530352" cy="530352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8" name="Oval 37"/>
          <p:cNvSpPr/>
          <p:nvPr/>
        </p:nvSpPr>
        <p:spPr>
          <a:xfrm>
            <a:off x="10149840" y="2286000"/>
            <a:ext cx="530352" cy="530352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9" name="Oval 38"/>
          <p:cNvSpPr/>
          <p:nvPr/>
        </p:nvSpPr>
        <p:spPr>
          <a:xfrm>
            <a:off x="10149840" y="4389120"/>
            <a:ext cx="530352" cy="530352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669280"/>
            <a:ext cx="521208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606F83"/>
                </a:solidFill>
                <a:latin typeface="Aptos"/>
              </a:defRPr>
            </a:pPr>
            <a:r>
              <a:t>A graph models both connections and their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38910" y="210185"/>
            <a:ext cx="10219690" cy="49403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Representation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2 · Adjacency list + Dijkstra's algorithm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9834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82296" cy="1143000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27048"/>
            <a:ext cx="463600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8"/>
            <a:ext cx="4617720" cy="5760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63142"/>
                </a:solidFill>
                <a:latin typeface="Aptos"/>
              </a:defRPr>
            </a:pPr>
            <a:r>
              <a:t>Use an adjacency list: store only each city's neighbours.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49834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788920"/>
            <a:ext cx="82296" cy="1143000"/>
          </a:xfrm>
          <a:prstGeom prst="rect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898648"/>
            <a:ext cx="463600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WHY IT 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64408"/>
            <a:ext cx="4617720" cy="5760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63142"/>
                </a:solidFill>
                <a:latin typeface="Aptos"/>
              </a:defRPr>
            </a:pPr>
            <a:r>
              <a:t>Road networks are usually sparse, so this avoids storing every possible connection.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75488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Example adjacency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54880"/>
            <a:ext cx="46634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28032"/>
            <a:ext cx="4297680" cy="86868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Consolas" panose="020B0609020204030204"/>
              </a:defRPr>
            </a:pPr>
            <a:r>
              <a:t>A: B(4), C(2)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Consolas" panose="020B0609020204030204"/>
              </a:defRPr>
            </a:pPr>
            <a:r>
              <a:t>B: A(4), C(1), D(5)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Consolas" panose="020B0609020204030204"/>
              </a:defRPr>
            </a:pPr>
            <a:r>
              <a:t>C: A(2), B(1), E(10)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417320"/>
            <a:ext cx="512064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4233E"/>
                </a:solidFill>
                <a:latin typeface="Aptos"/>
              </a:defRPr>
            </a:pPr>
            <a:r>
              <a:t>Dijkstra's shortest-path algorithm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1965960"/>
            <a:ext cx="438912" cy="438912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947672"/>
            <a:ext cx="4206240" cy="2743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Initialize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240279"/>
            <a:ext cx="43434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Aptos"/>
              </a:defRPr>
            </a:pPr>
            <a:r>
              <a:t>Source = 0; all others = ∞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2807208"/>
            <a:ext cx="438912" cy="438912"/>
          </a:xfrm>
          <a:prstGeom prst="ellipse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788920"/>
            <a:ext cx="4206240" cy="2743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081527"/>
            <a:ext cx="43434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Aptos"/>
              </a:defRPr>
            </a:pPr>
            <a:r>
              <a:t>Select the unvisited city with the smallest distance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3648456"/>
            <a:ext cx="438912" cy="438912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630168"/>
            <a:ext cx="4206240" cy="2743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Relax edges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922776"/>
            <a:ext cx="43434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Aptos"/>
              </a:defRPr>
            </a:pPr>
            <a:r>
              <a:t>Update a neighbour when a shorter route is found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4489704"/>
            <a:ext cx="438912" cy="438912"/>
          </a:xfrm>
          <a:prstGeom prst="ellipse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471416"/>
            <a:ext cx="4206240" cy="2743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Finish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764024"/>
            <a:ext cx="43434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63142"/>
                </a:solidFill>
                <a:latin typeface="Aptos"/>
              </a:defRPr>
            </a:pPr>
            <a:r>
              <a:t>Stop when the destination is finalized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623560"/>
            <a:ext cx="4480560" cy="347472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5632704"/>
            <a:ext cx="4407408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TIME O((V + E) log V)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0765" y="210185"/>
            <a:ext cx="10617835" cy="46736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Dijkstra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2 · Shortest route from A to 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63142"/>
                </a:solidFill>
                <a:latin typeface="Aptos"/>
              </a:defRPr>
            </a:pPr>
            <a:r>
              <a:t>Compare the route costs from A to 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E1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475488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D68BE"/>
                </a:solidFill>
                <a:latin typeface="Aptos"/>
              </a:defRPr>
            </a:pPr>
            <a:r>
              <a:t>ROUTE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46634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4233E"/>
                </a:solidFill>
                <a:latin typeface="Aptos"/>
              </a:defRPr>
            </a:pPr>
            <a:r>
              <a:t>A → C → E   =   2 + 10 = 12 km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475488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E9B97"/>
                </a:solidFill>
                <a:latin typeface="Aptos"/>
              </a:defRPr>
            </a:pPr>
            <a:r>
              <a:t>ROUTE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6634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A → C → B → D → E   = 2 + 1 + 5 + 2 = 10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900" b="1">
                <a:solidFill>
                  <a:srgbClr val="1E9B97"/>
                </a:solidFill>
                <a:latin typeface="Aptos"/>
              </a:defRPr>
            </a:pPr>
            <a:r>
              <a:t>Shortest route: A → C → B → D → E</a:t>
            </a:r>
          </a:p>
        </p:txBody>
      </p:sp>
      <p:sp>
        <p:nvSpPr>
          <p:cNvPr id="15" name="Oval 14"/>
          <p:cNvSpPr/>
          <p:nvPr/>
        </p:nvSpPr>
        <p:spPr>
          <a:xfrm>
            <a:off x="1417320" y="4389120"/>
            <a:ext cx="658368" cy="658368"/>
          </a:xfrm>
          <a:prstGeom prst="ellipse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12264" y="4718304"/>
            <a:ext cx="1545336" cy="0"/>
          </a:xfrm>
          <a:prstGeom prst="line">
            <a:avLst/>
          </a:prstGeom>
          <a:ln w="38100">
            <a:solidFill>
              <a:srgbClr val="1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49039" y="4389120"/>
            <a:ext cx="658368" cy="658368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43983" y="4718304"/>
            <a:ext cx="1545337" cy="0"/>
          </a:xfrm>
          <a:prstGeom prst="line">
            <a:avLst/>
          </a:prstGeom>
          <a:ln w="38100">
            <a:solidFill>
              <a:srgbClr val="1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080759" y="4389120"/>
            <a:ext cx="658368" cy="658368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75703" y="4718304"/>
            <a:ext cx="1545337" cy="0"/>
          </a:xfrm>
          <a:prstGeom prst="line">
            <a:avLst/>
          </a:prstGeom>
          <a:ln w="38100">
            <a:solidFill>
              <a:srgbClr val="1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412480" y="4389120"/>
            <a:ext cx="658368" cy="658368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07424" y="4718304"/>
            <a:ext cx="1545335" cy="0"/>
          </a:xfrm>
          <a:prstGeom prst="line">
            <a:avLst/>
          </a:prstGeom>
          <a:ln w="38100">
            <a:solidFill>
              <a:srgbClr val="1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744200" y="4389120"/>
            <a:ext cx="658368" cy="658368"/>
          </a:xfrm>
          <a:prstGeom prst="ellipse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10241280" cy="5943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Dijkstra repeatedly expands the nearest unvisited city. Non-negative road weights make the greedy choice safe.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6035040"/>
            <a:ext cx="4754880" cy="347472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94176" y="6044183"/>
            <a:ext cx="4681728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9B6914"/>
                </a:solidFill>
                <a:latin typeface="Aptos"/>
              </a:defRPr>
            </a:pPr>
            <a:r>
              <a:t>MIN-HEAP: O((V + E) log 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5065" y="210185"/>
            <a:ext cx="10503535" cy="52959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Stack ADT for Browser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3 · Last In, First 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8136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263142"/>
                </a:solidFill>
                <a:latin typeface="Aptos"/>
              </a:defRPr>
            </a:pPr>
            <a:r>
              <a:t>The browser Back button follows Last In, First Out (LIFO).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11480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E9B97"/>
                </a:solidFill>
                <a:latin typeface="Aptos"/>
              </a:defRPr>
            </a:pPr>
            <a:r>
              <a:t>BROWSER HISTORY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606040"/>
            <a:ext cx="3931920" cy="59436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651760"/>
            <a:ext cx="3657600" cy="4754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4233E"/>
                </a:solidFill>
                <a:latin typeface="Aptos"/>
              </a:defRPr>
            </a:pPr>
            <a:r>
              <a:t>Page C · current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429000"/>
            <a:ext cx="3931920" cy="594360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E1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74720"/>
            <a:ext cx="3657600" cy="4754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4233E"/>
                </a:solidFill>
                <a:latin typeface="Aptos"/>
              </a:defRPr>
            </a:pPr>
            <a:r>
              <a:t>Page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251960"/>
            <a:ext cx="3931920" cy="594360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97680"/>
            <a:ext cx="3657600" cy="4754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4233E"/>
                </a:solidFill>
                <a:latin typeface="Aptos"/>
              </a:defRPr>
            </a:pPr>
            <a:r>
              <a:t>Page A · first visited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017520"/>
            <a:ext cx="118872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E9B97"/>
                </a:solidFill>
                <a:latin typeface="Aptos"/>
              </a:defRPr>
            </a:pPr>
            <a:r>
              <a:t>TOP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103120"/>
            <a:ext cx="43891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12280" y="2103120"/>
            <a:ext cx="82296" cy="1143000"/>
          </a:xfrm>
          <a:prstGeom prst="rect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2212848"/>
            <a:ext cx="404164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2578608"/>
            <a:ext cx="4023359" cy="5760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63142"/>
                </a:solidFill>
                <a:latin typeface="Aptos"/>
              </a:defRPr>
            </a:pPr>
            <a:r>
              <a:t>A page visit adds a new entry to the top.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520440"/>
            <a:ext cx="43891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3520440"/>
            <a:ext cx="82296" cy="1143000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3630168"/>
            <a:ext cx="404164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POP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3995928"/>
            <a:ext cx="4023359" cy="5760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63142"/>
                </a:solidFill>
                <a:latin typeface="Aptos"/>
              </a:defRPr>
            </a:pPr>
            <a:r>
              <a:t>Back removes the current page and reveals the previous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4937760"/>
            <a:ext cx="4389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12280" y="4937760"/>
            <a:ext cx="82296" cy="914400"/>
          </a:xfrm>
          <a:prstGeom prst="rect">
            <a:avLst/>
          </a:prstGeom>
          <a:solidFill>
            <a:srgbClr val="F0B046"/>
          </a:solidFill>
          <a:ln>
            <a:solidFill>
              <a:srgbClr val="F0B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8" y="5047488"/>
            <a:ext cx="404164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PEEK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5413248"/>
            <a:ext cx="4023359" cy="3474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Read the top page without removing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97880"/>
            <a:ext cx="530352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606F83"/>
                </a:solidFill>
                <a:latin typeface="Aptos"/>
              </a:defRPr>
            </a:pPr>
            <a:r>
              <a:t>Stack implementation: array or linked 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3805" y="210185"/>
            <a:ext cx="10424795" cy="41148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How the Back Button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3 · Push on visit, pop on Back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29184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291840" cy="566928"/>
          </a:xfrm>
          <a:prstGeom prst="roundRect">
            <a:avLst>
              <a:gd name="adj" fmla="val 12000"/>
            </a:avLst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306324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1  VISIT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231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E1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41448"/>
            <a:ext cx="2606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Page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44952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E1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63240"/>
            <a:ext cx="2606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Page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6674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685031"/>
            <a:ext cx="2606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Page C · 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28346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63142"/>
                </a:solidFill>
                <a:latin typeface="Aptos"/>
              </a:defRPr>
            </a:pPr>
            <a:r>
              <a:t>push(A), push(B), push(C)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5440680"/>
            <a:ext cx="2103120" cy="347472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1016" y="5449824"/>
            <a:ext cx="2029967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O(1) OPERATION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508760"/>
            <a:ext cx="329184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1508760"/>
            <a:ext cx="3291840" cy="566928"/>
          </a:xfrm>
          <a:prstGeom prst="roundRect">
            <a:avLst>
              <a:gd name="adj" fmla="val 12000"/>
            </a:avLst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1600200"/>
            <a:ext cx="306324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2  CLICK 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59" y="24231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E1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2312" y="2441448"/>
            <a:ext cx="2606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Page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3044952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3063240"/>
            <a:ext cx="2606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Page B · current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6674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3685031"/>
            <a:ext cx="2606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C removed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526280"/>
            <a:ext cx="28346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63142"/>
                </a:solidFill>
                <a:latin typeface="Aptos"/>
              </a:defRPr>
            </a:pPr>
            <a:r>
              <a:t>pop() removes C; B becomes current.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5440680"/>
            <a:ext cx="2103120" cy="347472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5776" y="5449824"/>
            <a:ext cx="2029967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O(1) OPERATION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508760"/>
            <a:ext cx="329184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0" y="1508760"/>
            <a:ext cx="3291840" cy="566928"/>
          </a:xfrm>
          <a:prstGeom prst="roundRect">
            <a:avLst>
              <a:gd name="adj" fmla="val 12000"/>
            </a:avLst>
          </a:prstGeom>
          <a:solidFill>
            <a:srgbClr val="F0B046"/>
          </a:solidFill>
          <a:ln>
            <a:solidFill>
              <a:srgbClr val="F0B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7" y="1600200"/>
            <a:ext cx="306324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3  CLICK BACK AGAIN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24231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2441448"/>
            <a:ext cx="2606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Page A · current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3044952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7072" y="3063240"/>
            <a:ext cx="2606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B removed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366674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7072" y="3685031"/>
            <a:ext cx="26060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C removed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526280"/>
            <a:ext cx="28346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263142"/>
                </a:solidFill>
                <a:latin typeface="Aptos"/>
              </a:defRPr>
            </a:pPr>
            <a:r>
              <a:t>pop() removes B; A becomes current.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23960" y="5440680"/>
            <a:ext cx="2103120" cy="347472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0536" y="5449824"/>
            <a:ext cx="2029967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O(1) OPERATION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080760"/>
            <a:ext cx="1078992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100" b="0">
                <a:solidFill>
                  <a:srgbClr val="606F83"/>
                </a:solidFill>
                <a:latin typeface="Aptos"/>
              </a:defRPr>
            </a:pPr>
            <a:r>
              <a:t>Forward navigation can use a second stack to store pages that were popped.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3325" y="210185"/>
            <a:ext cx="10455275" cy="431165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Performance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3 · Why a stack beats the alternatives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63142"/>
                </a:solidFill>
                <a:latin typeface="Aptos"/>
              </a:defRPr>
            </a:pPr>
            <a:r>
              <a:t>A stack is efficient because operations happen only at one end: the 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02920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48056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STACK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926080"/>
            <a:ext cx="1143000" cy="347472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E1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935224"/>
            <a:ext cx="1069848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2D68BE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926080"/>
            <a:ext cx="2560320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Add current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639312"/>
            <a:ext cx="1143000" cy="347472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3648456"/>
            <a:ext cx="1069848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POP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639312"/>
            <a:ext cx="2560320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Go back one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352544"/>
            <a:ext cx="1143000" cy="347472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" y="4361688"/>
            <a:ext cx="1069848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0B046"/>
                </a:solidFill>
                <a:latin typeface="Aptos"/>
              </a:defRPr>
            </a:pPr>
            <a:r>
              <a:t>PEEK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352544"/>
            <a:ext cx="2560320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View top page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148840"/>
            <a:ext cx="2240280" cy="182880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423160"/>
            <a:ext cx="196596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3000" b="1">
                <a:solidFill>
                  <a:srgbClr val="1E9B97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54680"/>
            <a:ext cx="1874519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push / pop / peek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2148840"/>
            <a:ext cx="2240280" cy="1828800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E1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423160"/>
            <a:ext cx="196596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3000" b="1">
                <a:solidFill>
                  <a:srgbClr val="2D68BE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154680"/>
            <a:ext cx="196596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space for n pages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343400"/>
            <a:ext cx="4846320" cy="1005840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526280"/>
            <a:ext cx="438912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263142"/>
                </a:solidFill>
                <a:latin typeface="Aptos"/>
              </a:defRPr>
            </a:pPr>
            <a:r>
              <a:t>No search and no shifting are needed for 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E9B97"/>
                </a:solidFill>
                <a:latin typeface="Aptos"/>
              </a:defRPr>
            </a:pPr>
            <a:r>
              <a:t>Even with thousands of visited pages, the Back operation stays constant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3805" y="210185"/>
            <a:ext cx="10424795" cy="51435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Searching 50,000 ISBN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4 · Candidate data structures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097280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63142"/>
                </a:solidFill>
                <a:latin typeface="Aptos"/>
              </a:defRPr>
            </a:pPr>
            <a:r>
              <a:t>Requirement: exact-match lookup for an ISBN across 50,000 book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256032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359152"/>
            <a:ext cx="457200" cy="457200"/>
          </a:xfrm>
          <a:prstGeom prst="ellipse">
            <a:avLst/>
          </a:prstGeom>
          <a:solidFill>
            <a:srgbClr val="CA5252"/>
          </a:solidFill>
          <a:ln>
            <a:solidFill>
              <a:srgbClr val="CA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359152"/>
            <a:ext cx="16002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4233E"/>
                </a:solidFill>
                <a:latin typeface="Aptos"/>
              </a:defRPr>
            </a:pPr>
            <a:r>
              <a:t>Unsorted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63240"/>
            <a:ext cx="2148840" cy="7772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63142"/>
                </a:solidFill>
                <a:latin typeface="Aptos"/>
              </a:defRPr>
            </a:pPr>
            <a:r>
              <a:t>Scan each record until the ISBN matches.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69080"/>
            <a:ext cx="2103120" cy="347472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078224"/>
            <a:ext cx="2029967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CA5252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148840"/>
            <a:ext cx="256032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9039" y="2359152"/>
            <a:ext cx="457200" cy="457200"/>
          </a:xfrm>
          <a:prstGeom prst="ellipse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359152"/>
            <a:ext cx="16002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4233E"/>
                </a:solidFill>
                <a:latin typeface="Aptos"/>
              </a:defRPr>
            </a:pPr>
            <a:r>
              <a:t>Sorted array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063240"/>
            <a:ext cx="2148840" cy="7772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63142"/>
                </a:solidFill>
                <a:latin typeface="Aptos"/>
              </a:defRPr>
            </a:pPr>
            <a:r>
              <a:t>Binary search halves the remaining range.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4069080"/>
            <a:ext cx="2103120" cy="347472"/>
          </a:xfrm>
          <a:prstGeom prst="roundRect">
            <a:avLst>
              <a:gd name="adj" fmla="val 12000"/>
            </a:avLst>
          </a:prstGeom>
          <a:solidFill>
            <a:srgbClr val="E1EDFC"/>
          </a:solidFill>
          <a:ln>
            <a:solidFill>
              <a:srgbClr val="E1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1336" y="4078224"/>
            <a:ext cx="2029967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2D68BE"/>
                </a:solidFill>
                <a:latin typeface="Aptos"/>
              </a:defRPr>
            </a:pPr>
            <a:r>
              <a:t>O(log 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148840"/>
            <a:ext cx="256032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2359152"/>
            <a:ext cx="457200" cy="457200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2359152"/>
            <a:ext cx="16002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4233E"/>
                </a:solidFill>
                <a:latin typeface="Aptos"/>
              </a:defRPr>
            </a:pPr>
            <a:r>
              <a:t>Balanced BST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063240"/>
            <a:ext cx="2148840" cy="7772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63142"/>
                </a:solidFill>
                <a:latin typeface="Aptos"/>
              </a:defRPr>
            </a:pPr>
            <a:r>
              <a:t>Compare keys and follow left/right branches.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069080"/>
            <a:ext cx="2103120" cy="347472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696" y="4078224"/>
            <a:ext cx="2029967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O(log 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148840"/>
            <a:ext cx="256032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09759" y="2359152"/>
            <a:ext cx="457200" cy="457200"/>
          </a:xfrm>
          <a:prstGeom prst="ellipse">
            <a:avLst/>
          </a:prstGeom>
          <a:solidFill>
            <a:srgbClr val="7357B4"/>
          </a:solidFill>
          <a:ln>
            <a:solidFill>
              <a:srgbClr val="735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8" y="2359152"/>
            <a:ext cx="16002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4233E"/>
                </a:solidFill>
                <a:latin typeface="Aptos"/>
              </a:defRPr>
            </a:pPr>
            <a:r>
              <a:t>Hash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3063240"/>
            <a:ext cx="2148840" cy="7772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63142"/>
                </a:solidFill>
                <a:latin typeface="Aptos"/>
              </a:defRPr>
            </a:pPr>
            <a:r>
              <a:t>Convert the ISBN into a bucket index.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4069080"/>
            <a:ext cx="2103120" cy="347472"/>
          </a:xfrm>
          <a:prstGeom prst="roundRect">
            <a:avLst>
              <a:gd name="adj" fmla="val 12000"/>
            </a:avLst>
          </a:prstGeom>
          <a:solidFill>
            <a:srgbClr val="EEE7FA"/>
          </a:solidFill>
          <a:ln>
            <a:solidFill>
              <a:srgbClr val="EE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92055" y="4078224"/>
            <a:ext cx="2029967" cy="310896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7357B4"/>
                </a:solidFill>
                <a:latin typeface="Aptos"/>
              </a:defRPr>
            </a:pPr>
            <a:r>
              <a:t>O(1) average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74920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230368"/>
            <a:ext cx="10424160" cy="53035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4233E"/>
                </a:solidFill>
                <a:latin typeface="Aptos"/>
              </a:defRPr>
            </a:pPr>
            <a:r>
              <a:t>Choice: hash table — ISBN is a unique key and the task needs frequent exact-match searches.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99870" y="210185"/>
            <a:ext cx="10158730" cy="539115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Time Complexity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4 · Searching n = 50,000 records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0972800" cy="43891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63142"/>
                </a:solidFill>
                <a:latin typeface="Aptos"/>
              </a:defRPr>
            </a:pPr>
            <a:r>
              <a:t>For n = 50,000 records, compare how the work grows as the collection grows.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97180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4233E"/>
                </a:solidFill>
                <a:latin typeface="Aptos"/>
              </a:defRPr>
            </a:pPr>
            <a:r>
              <a:t>Unsorted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2210" y="2511425"/>
            <a:ext cx="9460865" cy="167640"/>
          </a:xfrm>
          <a:prstGeom prst="roundRect">
            <a:avLst>
              <a:gd name="adj" fmla="val 12000"/>
            </a:avLst>
          </a:prstGeom>
          <a:solidFill>
            <a:srgbClr val="CA5252"/>
          </a:solidFill>
          <a:ln>
            <a:solidFill>
              <a:srgbClr val="CA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0" y="2240280"/>
            <a:ext cx="150876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CA5252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297180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4233E"/>
                </a:solidFill>
                <a:latin typeface="Aptos"/>
              </a:defRPr>
            </a:pPr>
            <a:r>
              <a:t>Sorted array / balanced BST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3200400"/>
            <a:ext cx="3200400" cy="438912"/>
          </a:xfrm>
          <a:prstGeom prst="roundRect">
            <a:avLst>
              <a:gd name="adj" fmla="val 12000"/>
            </a:avLst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200400"/>
            <a:ext cx="150876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2D68BE"/>
                </a:solidFill>
                <a:latin typeface="Aptos"/>
              </a:defRPr>
            </a:pPr>
            <a:r>
              <a:t>O(log 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2971800" cy="3657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4233E"/>
                </a:solidFill>
                <a:latin typeface="Aptos"/>
              </a:defRPr>
            </a:pPr>
            <a:r>
              <a:t>Hash table · average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4160520"/>
            <a:ext cx="914400" cy="438912"/>
          </a:xfrm>
          <a:prstGeom prst="roundRect">
            <a:avLst>
              <a:gd name="adj" fmla="val 12000"/>
            </a:avLst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4160520"/>
            <a:ext cx="150876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E9B97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49240"/>
            <a:ext cx="10698480" cy="868680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86400"/>
            <a:ext cx="10241280" cy="56692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63142"/>
                </a:solidFill>
                <a:latin typeface="Aptos"/>
              </a:defRPr>
            </a:pPr>
            <a:r>
              <a:t>Note: hashing can degrade to O(n) in the worst case if many keys collide. A good hash function and sensible load factor reduce collisions.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50292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4233E"/>
                </a:solidFill>
                <a:latin typeface="Aptos"/>
              </a:defRPr>
            </a:pPr>
            <a:r>
              <a:t>Hash Design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E9B97"/>
                </a:solidFill>
                <a:latin typeface="Aptos"/>
              </a:defRPr>
            </a:pPr>
            <a:r>
              <a:t>Question 4 · How the hash table works, and the summary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115568"/>
            <a:ext cx="11128248" cy="0"/>
          </a:xfrm>
          <a:prstGeom prst="line">
            <a:avLst/>
          </a:prstGeom>
          <a:ln w="1270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06F8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0972800" cy="38404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63142"/>
                </a:solidFill>
                <a:latin typeface="Aptos"/>
              </a:defRPr>
            </a:pPr>
            <a:r>
              <a:t>A hash function maps each ISBN to a bucket where its record can be 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23317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2194560"/>
            <a:ext cx="457200" cy="457200"/>
          </a:xfrm>
          <a:prstGeom prst="ellipse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75688"/>
            <a:ext cx="1508760" cy="6858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ISBN-13</a:t>
            </a:r>
          </a:p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key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450592"/>
            <a:ext cx="384048" cy="0"/>
          </a:xfrm>
          <a:prstGeom prst="line">
            <a:avLst/>
          </a:prstGeom>
          <a:ln w="25400">
            <a:solidFill>
              <a:srgbClr val="1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965960"/>
            <a:ext cx="23317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75887" y="2194560"/>
            <a:ext cx="457200" cy="457200"/>
          </a:xfrm>
          <a:prstGeom prst="ellipse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075688"/>
            <a:ext cx="1508760" cy="6858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Hash function</a:t>
            </a:r>
          </a:p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key mod 65,537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25312" y="2450592"/>
            <a:ext cx="384048" cy="0"/>
          </a:xfrm>
          <a:prstGeom prst="line">
            <a:avLst/>
          </a:prstGeom>
          <a:ln w="25400">
            <a:solidFill>
              <a:srgbClr val="1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46520" y="1965960"/>
            <a:ext cx="23317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56248" y="2194560"/>
            <a:ext cx="457200" cy="457200"/>
          </a:xfrm>
          <a:prstGeom prst="ellipse">
            <a:avLst/>
          </a:prstGeom>
          <a:solidFill>
            <a:srgbClr val="F0B046"/>
          </a:solidFill>
          <a:ln>
            <a:solidFill>
              <a:srgbClr val="F0B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075688"/>
            <a:ext cx="1508760" cy="6858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Bucket</a:t>
            </a:r>
          </a:p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index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05672" y="2450592"/>
            <a:ext cx="384048" cy="0"/>
          </a:xfrm>
          <a:prstGeom prst="line">
            <a:avLst/>
          </a:prstGeom>
          <a:ln w="25400">
            <a:solidFill>
              <a:srgbClr val="1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26880" y="1965960"/>
            <a:ext cx="23317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36607" y="2194560"/>
            <a:ext cx="457200" cy="457200"/>
          </a:xfrm>
          <a:prstGeom prst="ellipse">
            <a:avLst/>
          </a:prstGeom>
          <a:solidFill>
            <a:srgbClr val="7357B4"/>
          </a:solidFill>
          <a:ln>
            <a:solidFill>
              <a:srgbClr val="735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5248" y="2075688"/>
            <a:ext cx="1508760" cy="6858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Record chain</a:t>
            </a:r>
          </a:p>
          <a:p>
            <a:pPr algn="ctr">
              <a:spcAft>
                <a:spcPts val="300"/>
              </a:spcAft>
              <a:defRPr sz="1200" b="1">
                <a:solidFill>
                  <a:srgbClr val="14233E"/>
                </a:solidFill>
                <a:latin typeface="Aptos"/>
              </a:defRPr>
            </a:pPr>
            <a:r>
              <a:t>if collision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83280"/>
            <a:ext cx="51206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383280"/>
            <a:ext cx="82296" cy="2011680"/>
          </a:xfrm>
          <a:prstGeom prst="rect">
            <a:avLst/>
          </a:prstGeom>
          <a:solidFill>
            <a:srgbClr val="1E9B97"/>
          </a:solidFill>
          <a:ln>
            <a:solidFill>
              <a:srgbClr val="1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493008"/>
            <a:ext cx="477316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DESIGN CHOICES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858768"/>
            <a:ext cx="4754879" cy="144475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• Table size: 65,537 (prime)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• Load factor: 50,000 / 65,537 ≈ 0.76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• Collision handling: separate chaining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• Expected lookup: O(1) average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383280"/>
            <a:ext cx="51206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383280"/>
            <a:ext cx="82296" cy="2011680"/>
          </a:xfrm>
          <a:prstGeom prst="rect">
            <a:avLst/>
          </a:prstGeom>
          <a:solidFill>
            <a:srgbClr val="2D68BE"/>
          </a:solidFill>
          <a:ln>
            <a:solidFill>
              <a:srgbClr val="2D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493008"/>
            <a:ext cx="4773168" cy="310896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858768"/>
            <a:ext cx="4754879" cy="144475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Q1  Student marks → Array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Q2  City routes → Graph + Dijkstra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Q3  Browser Back → Stack (LIFO)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63142"/>
                </a:solidFill>
                <a:latin typeface="Aptos"/>
              </a:defRPr>
            </a:pPr>
            <a:r>
              <a:t>Q4  ISBN lookup → Hash table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715000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760720"/>
            <a:ext cx="9692640" cy="3474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Choose the data structure that best matches the operations.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2230" y="0"/>
            <a:ext cx="12254230" cy="6842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ATS Technical">
  <a:themeElements>
    <a:clrScheme name="SIMATS Technical">
      <a:dk1>
        <a:srgbClr val="111827"/>
      </a:dk1>
      <a:lt1>
        <a:srgbClr val="FFFFFF"/>
      </a:lt1>
      <a:dk2>
        <a:srgbClr val="002060"/>
      </a:dk2>
      <a:lt2>
        <a:srgbClr val="EAF1FB"/>
      </a:lt2>
      <a:accent1>
        <a:srgbClr val="1F5FA8"/>
      </a:accent1>
      <a:accent2>
        <a:srgbClr val="F26522"/>
      </a:accent2>
      <a:accent3>
        <a:srgbClr val="6DB33F"/>
      </a:accent3>
      <a:accent4>
        <a:srgbClr val="9DB4D6"/>
      </a:accent4>
      <a:accent5>
        <a:srgbClr val="0B1F4B"/>
      </a:accent5>
      <a:accent6>
        <a:srgbClr val="6B7280"/>
      </a:accent6>
      <a:hlink>
        <a:srgbClr val="1F5FA8"/>
      </a:hlink>
      <a:folHlink>
        <a:srgbClr val="6B7280"/>
      </a:folHlink>
    </a:clrScheme>
    <a:fontScheme name="SIMATS Technic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ATS Technical">
  <a:themeElements>
    <a:clrScheme name="SIMATS Technical">
      <a:dk1>
        <a:srgbClr val="111827"/>
      </a:dk1>
      <a:lt1>
        <a:srgbClr val="FFFFFF"/>
      </a:lt1>
      <a:dk2>
        <a:srgbClr val="002060"/>
      </a:dk2>
      <a:lt2>
        <a:srgbClr val="EAF1FB"/>
      </a:lt2>
      <a:accent1>
        <a:srgbClr val="1F5FA8"/>
      </a:accent1>
      <a:accent2>
        <a:srgbClr val="F26522"/>
      </a:accent2>
      <a:accent3>
        <a:srgbClr val="6DB33F"/>
      </a:accent3>
      <a:accent4>
        <a:srgbClr val="9DB4D6"/>
      </a:accent4>
      <a:accent5>
        <a:srgbClr val="0B1F4B"/>
      </a:accent5>
      <a:accent6>
        <a:srgbClr val="6B7280"/>
      </a:accent6>
      <a:hlink>
        <a:srgbClr val="1F5FA8"/>
      </a:hlink>
      <a:folHlink>
        <a:srgbClr val="6B7280"/>
      </a:folHlink>
    </a:clrScheme>
    <a:fontScheme name="SIMATS Technic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5426</Words>
  <Application>WPS Presentation</Application>
  <PresentationFormat>On-screen Show (16:9)</PresentationFormat>
  <Paragraphs>479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Times New Roman</vt:lpstr>
      <vt:lpstr>Times New Roman</vt:lpstr>
      <vt:lpstr>Times New Roman</vt:lpstr>
      <vt:lpstr>Aptos</vt:lpstr>
      <vt:lpstr>Segoe UI</vt:lpstr>
      <vt:lpstr>Consolas</vt:lpstr>
      <vt:lpstr>Microsoft YaHei</vt:lpstr>
      <vt:lpstr>Arial Unicode MS</vt:lpstr>
      <vt:lpstr>SIMATS Technical</vt:lpstr>
      <vt:lpstr>CSA0308- DATA STRUCTURES Assessment Tool 2 - Technical Presentation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 - Data Structures (CSA03)</dc:title>
  <dc:creator>SIMATS Engineering</dc:creator>
  <dc:subject>PptxGenJS Presentation</dc:subject>
  <cp:lastModifiedBy>Pooja Shree</cp:lastModifiedBy>
  <cp:revision>3</cp:revision>
  <dcterms:created xsi:type="dcterms:W3CDTF">2026-10-09T03:10:00Z</dcterms:created>
  <dcterms:modified xsi:type="dcterms:W3CDTF">2026-10-11T07:48:31Z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B6925F123F2445038A486A373D4BD70B_13</vt:lpwstr>
  </property>
</Properties>
</file>